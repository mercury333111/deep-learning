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3"/>
  </p:notesMasterIdLst>
  <p:sldIdLst>
    <p:sldId id="278" r:id="rId3"/>
    <p:sldId id="333" r:id="rId4"/>
    <p:sldId id="335" r:id="rId5"/>
    <p:sldId id="323" r:id="rId6"/>
    <p:sldId id="324" r:id="rId7"/>
    <p:sldId id="325" r:id="rId8"/>
    <p:sldId id="334" r:id="rId9"/>
    <p:sldId id="326" r:id="rId10"/>
    <p:sldId id="337" r:id="rId11"/>
    <p:sldId id="336" r:id="rId12"/>
    <p:sldId id="327" r:id="rId13"/>
    <p:sldId id="338" r:id="rId14"/>
    <p:sldId id="328" r:id="rId15"/>
    <p:sldId id="340" r:id="rId16"/>
    <p:sldId id="339" r:id="rId17"/>
    <p:sldId id="329" r:id="rId18"/>
    <p:sldId id="330" r:id="rId19"/>
    <p:sldId id="331" r:id="rId20"/>
    <p:sldId id="332" r:id="rId21"/>
    <p:sldId id="317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1ED"/>
    <a:srgbClr val="FFFF66"/>
    <a:srgbClr val="F4B183"/>
    <a:srgbClr val="A4A0B7"/>
    <a:srgbClr val="856699"/>
    <a:srgbClr val="EFF4FC"/>
    <a:srgbClr val="D9E8FC"/>
    <a:srgbClr val="AFE3E6"/>
    <a:srgbClr val="A8D18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2296-9383-4CE2-B089-9B1D81D14FA7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EBF4B-D0C4-48FE-9E7C-4D60AB4D0B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EBF4B-D0C4-48FE-9E7C-4D60AB4D0BC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43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FDE0E-32F9-4681-B932-59D96D5EEB4E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5.jpeg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1.pn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9.png"/><Relationship Id="rId5" Type="http://schemas.openxmlformats.org/officeDocument/2006/relationships/tags" Target="../tags/tag19.xml"/><Relationship Id="rId10" Type="http://schemas.openxmlformats.org/officeDocument/2006/relationships/image" Target="../media/image8.png"/><Relationship Id="rId4" Type="http://schemas.openxmlformats.org/officeDocument/2006/relationships/tags" Target="../tags/tag18.xm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5" Type="http://schemas.openxmlformats.org/officeDocument/2006/relationships/hyperlink" Target="https://openaccess.thecvf.com/content/CVPR2021/papers/Hou_Coordinate_Attention_for_Efficient_Mobile_Network_Design_CVPR_2021_paper.pdf" TargetMode="Externa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ICCV2021/papers/Qin_FcaNet_Frequency_Channel_Attention_Networks_ICCV_2021_paper.pd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openaccess.thecvf.com/content/CVPR2021/papers/Hou_Coordinate_Attention_for_Efficient_Mobile_Network_Design_CVPR_2021_paper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5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image" Target="../media/image5.jpeg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penaccess.thecvf.com/content/CVPR2021/papers/Hou_Coordinate_Attention_for_Efficient_Mobile_Network_Design_CVPR_2021_paper.pdf" TargetMode="External"/><Relationship Id="rId4" Type="http://schemas.openxmlformats.org/officeDocument/2006/relationships/hyperlink" Target="https://arxiv.org/pdf/2211.11943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0" y="1952625"/>
            <a:ext cx="15978505" cy="2952115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85825" y="2543175"/>
            <a:ext cx="104209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基于轻量 </a:t>
            </a:r>
            <a:r>
              <a:rPr lang="en-US" altLang="zh-CN" sz="6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ResNet </a:t>
            </a:r>
            <a:r>
              <a:rPr lang="zh-CN" altLang="en-US" sz="6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的 </a:t>
            </a:r>
            <a:r>
              <a:rPr lang="en-US" altLang="zh-CN" sz="6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CIFAR100 </a:t>
            </a:r>
            <a:r>
              <a:rPr lang="zh-CN" altLang="en-US" sz="6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charset="-122"/>
                <a:ea typeface="华文新魏" panose="02010800040101010101" charset="-122"/>
              </a:rPr>
              <a:t>图像分类改进研究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34385" y="5323205"/>
            <a:ext cx="5462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南亚宏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杨李泽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蔡梓涵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作业要求与实验背景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开放性题目 1：CPU 环境下基于 PyTorch 的 CIFAR-100 图像分类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04057"/>
            <a:ext cx="64922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基础网络：精简版</a:t>
            </a:r>
            <a:r>
              <a:rPr dirty="0"/>
              <a:t> </a:t>
            </a:r>
            <a:r>
              <a:rPr dirty="0" err="1"/>
              <a:t>ResNet，用</a:t>
            </a:r>
            <a:r>
              <a:rPr dirty="0"/>
              <a:t> CIFAR-100 </a:t>
            </a:r>
            <a:r>
              <a:rPr dirty="0" err="1"/>
              <a:t>进行</a:t>
            </a:r>
            <a:r>
              <a:rPr dirty="0"/>
              <a:t> 100 </a:t>
            </a:r>
            <a:r>
              <a:rPr dirty="0" err="1"/>
              <a:t>类图像分类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实现要求：至少实现</a:t>
            </a:r>
            <a:r>
              <a:rPr dirty="0"/>
              <a:t> 3 </a:t>
            </a:r>
            <a:r>
              <a:rPr dirty="0" err="1"/>
              <a:t>种给定方向的方法，并作为对比实验展示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评价重点：结果对比充分、消融实验完整、能解释提升与未提升的原因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本组实现：Coordinate</a:t>
            </a:r>
            <a:r>
              <a:rPr dirty="0"/>
              <a:t> </a:t>
            </a:r>
            <a:r>
              <a:rPr dirty="0" err="1"/>
              <a:t>Attention、FcaNet-style</a:t>
            </a:r>
            <a:r>
              <a:rPr dirty="0"/>
              <a:t> 通道注意力、Res2Net、Conv2former。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CD47B5-EFE1-8125-C3FB-77DF55145E48}"/>
              </a:ext>
            </a:extLst>
          </p:cNvPr>
          <p:cNvSpPr txBox="1"/>
          <p:nvPr/>
        </p:nvSpPr>
        <p:spPr>
          <a:xfrm>
            <a:off x="640080" y="4550553"/>
            <a:ext cx="6492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/>
              </a:rPr>
              <a:t>我们的</a:t>
            </a:r>
            <a:r>
              <a:rPr lang="en-US" altLang="zh-CN" sz="2000" dirty="0" err="1">
                <a:solidFill>
                  <a:srgbClr val="000000"/>
                </a:solidFill>
                <a:latin typeface="Microsoft YaHei"/>
              </a:rPr>
              <a:t>gitee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</a:rPr>
              <a:t>仓库：</a:t>
            </a:r>
            <a:endParaRPr lang="en-US" altLang="zh-CN" sz="2000" dirty="0">
              <a:solidFill>
                <a:srgbClr val="000000"/>
              </a:solidFill>
              <a:latin typeface="Microsoft YaHei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zh-CN" dirty="0">
                <a:hlinkClick r:id=""/>
              </a:rPr>
              <a:t>https://gitee.com/Mercury333111/deep-learning---cifar100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6F1FC39-667E-05C4-C7BD-EFAA280D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425" y="1144534"/>
            <a:ext cx="4101925" cy="5188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EC63-555D-FBDA-78EF-EC52D228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71607-0476-2A11-261B-CAC0838A1973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作业要求与实验背景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8A75C3-C51B-E7B9-C5D1-F1A2059911E2}"/>
              </a:ext>
            </a:extLst>
          </p:cNvPr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5F139-32D9-2C4D-3365-EDCCCA244C4A}"/>
              </a:ext>
            </a:extLst>
          </p:cNvPr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开放性题目 1：CPU 环境下基于 PyTorch 的 CIFAR-100 图像分类</a:t>
            </a: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435F0C7D-7CAE-1B0B-5253-706B621E84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" t="19290" r="7553" b="8214"/>
          <a:stretch/>
        </p:blipFill>
        <p:spPr>
          <a:xfrm>
            <a:off x="912134" y="1648087"/>
            <a:ext cx="10367731" cy="404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06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301879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 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CIFAR100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55829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/>
              <a:t>CIFAR-100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 CIFAR </a:t>
            </a:r>
            <a:r>
              <a:rPr lang="zh-CN" altLang="en-US" sz="2400" b="1" dirty="0"/>
              <a:t>系列小规模自然图像数据集中的一种</a:t>
            </a:r>
          </a:p>
          <a:p>
            <a:endParaRPr lang="en-US" altLang="zh-CN" b="1" dirty="0"/>
          </a:p>
          <a:p>
            <a:endParaRPr lang="zh-CN" altLang="en-US" b="1" dirty="0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60866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96820" y="228473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有100个类别，共计60000张32×32彩色图：其中有50000张训练集和10000张测试集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152088" y="232812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498090" y="3911600"/>
            <a:ext cx="939038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 dirty="0"/>
          </a:p>
          <a:p>
            <a:endParaRPr lang="zh-CN" altLang="en-US" b="1" dirty="0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96820" y="337756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难点在于：低分辨率 + 细粒度相似类</a:t>
            </a:r>
          </a:p>
          <a:p>
            <a:r>
              <a:rPr lang="zh-CN" altLang="en-US" sz="2400" b="1" dirty="0"/>
              <a:t>⇒ 对感受野、注意力、多尺度建模更敏感</a:t>
            </a: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2152088" y="341397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96820" y="457644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zh-CN" altLang="en-US" sz="2400" b="1" dirty="0"/>
              <a:t>实验优势：规模适中，适合 CPU 训练下的多方案对比与消融实验</a:t>
            </a:r>
          </a:p>
          <a:p>
            <a:endParaRPr lang="zh-CN" altLang="en-US" b="1" dirty="0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2152088" y="462682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390271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基础网络：精简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ResNet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22301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通过残差连接解决了深层网络梯度消失问题，让信息可以直通高层，训练稳定、结构规整</a:t>
            </a:r>
          </a:p>
          <a:p>
            <a:endParaRPr lang="zh-CN" altLang="en-US" b="1" dirty="0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27338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96820" y="215201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去掉了 </a:t>
            </a:r>
            <a:r>
              <a:rPr lang="en-US" altLang="zh-CN" sz="2400" b="1" dirty="0"/>
              <a:t>Bottleneck（1×1</a:t>
            </a:r>
            <a:r>
              <a:rPr lang="zh-CN" altLang="en-US" sz="2400" b="1" dirty="0"/>
              <a:t>降维→3×3→1×1升维那套），全程用 </a:t>
            </a:r>
            <a:r>
              <a:rPr lang="en-US" altLang="zh-CN" sz="2400" b="1" dirty="0"/>
              <a:t>BasicBlock；</a:t>
            </a:r>
            <a:r>
              <a:rPr lang="zh-CN" altLang="en-US" sz="2400" b="1" dirty="0"/>
              <a:t>同时通道数不加倍到 2048 那种量级，维持在 64→128→256→512​ 四阶段，适配 </a:t>
            </a:r>
            <a:r>
              <a:rPr lang="en-US" altLang="zh-CN" sz="2400" b="1" dirty="0"/>
              <a:t>CIFAR100 </a:t>
            </a:r>
            <a:r>
              <a:rPr lang="zh-CN" altLang="en-US" sz="2400" b="1" dirty="0"/>
              <a:t>的 32×32 分辨率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152088" y="219540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pic>
        <p:nvPicPr>
          <p:cNvPr id="19" name="图片 18" descr="Sheet_202606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6840" y="3493770"/>
            <a:ext cx="7609840" cy="2595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522097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Coordinate Attention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69227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/>
              <a:t>坐标信息编码，沿水平方向和垂直方向分别做1D均值池化</a:t>
            </a:r>
            <a:r>
              <a:rPr lang="zh-CN" altLang="en-US" sz="2400" b="1" dirty="0"/>
              <a:t>，得到</a:t>
            </a:r>
          </a:p>
          <a:p>
            <a:r>
              <a:rPr lang="en-US" altLang="zh-CN" sz="2400" b="1" dirty="0"/>
              <a:t>                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   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74265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96820" y="262128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方向信息融合、分支生成：把</a:t>
            </a:r>
            <a:r>
              <a:rPr lang="en-US" altLang="zh-CN" sz="2400" b="1" dirty="0"/>
              <a:t>    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    </a:t>
            </a:r>
            <a:r>
              <a:rPr lang="zh-CN" altLang="en-US" sz="2400" b="1" dirty="0"/>
              <a:t>在空间维拼接​ → 过一个 1×1 </a:t>
            </a:r>
            <a:r>
              <a:rPr lang="en-US" altLang="zh-CN" sz="2400" b="1" dirty="0"/>
              <a:t>Conv + BN + </a:t>
            </a:r>
            <a:r>
              <a:rPr lang="zh-CN" altLang="en-US" sz="2400" b="1" dirty="0"/>
              <a:t>非线性​ 做通道压缩与信息交互；</a:t>
            </a:r>
            <a:endParaRPr lang="en-US" altLang="zh-CN" sz="2400" b="1" dirty="0"/>
          </a:p>
          <a:p>
            <a:r>
              <a:rPr lang="zh-CN" altLang="en-US" sz="2400" b="1" dirty="0"/>
              <a:t>再按 </a:t>
            </a:r>
            <a:r>
              <a:rPr lang="en-US" altLang="zh-CN" sz="2400" b="1" dirty="0"/>
              <a:t>H/W </a:t>
            </a:r>
            <a:r>
              <a:rPr lang="zh-CN" altLang="en-US" sz="2400" b="1" dirty="0"/>
              <a:t>切回两半 → 分别过 1×1 </a:t>
            </a:r>
            <a:r>
              <a:rPr lang="en-US" altLang="zh-CN" sz="2400" b="1" dirty="0"/>
              <a:t>Conv → Sigmoid​ → </a:t>
            </a:r>
            <a:r>
              <a:rPr lang="zh-CN" altLang="en-US" sz="2400" b="1" dirty="0"/>
              <a:t>得到两张注意力图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152088" y="266467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8585" y="2082800"/>
            <a:ext cx="1295400" cy="381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1305" y="2110740"/>
            <a:ext cx="1295400" cy="3143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7010" y="2689860"/>
            <a:ext cx="304800" cy="3429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1370" y="2689860"/>
            <a:ext cx="352425" cy="3429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0610" y="3803015"/>
            <a:ext cx="1323975" cy="79057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496820" y="483616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调制原特征</a:t>
            </a:r>
            <a:r>
              <a:rPr lang="en-US" altLang="zh-CN" sz="2400" b="1" dirty="0"/>
              <a:t>   </a:t>
            </a: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2152088" y="488653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5465" y="4836160"/>
            <a:ext cx="2419350" cy="447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1F10-B5C2-CE3E-A9C3-0230D8C9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4A85A49A-6221-6781-0F71-848B64C7C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F155030E-8EF1-3B63-1DA5-248670271FFC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39D1FE4-141C-72A3-5772-0E5D74538A5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EBABA1-86A7-BD67-AF72-4E4DD1FF9C7A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E3885B3-1C1C-2905-C6E4-15982B78E1F5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766EE7B-FCCE-DB57-C92B-51F65A7B19A9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E98FF612-84B4-5863-5C32-5702FDD777A4}"/>
                </a:ext>
              </a:extLst>
            </p:cNvPr>
            <p:cNvSpPr txBox="1"/>
            <p:nvPr/>
          </p:nvSpPr>
          <p:spPr>
            <a:xfrm>
              <a:off x="1037722" y="295573"/>
              <a:ext cx="522097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Coordinate Attention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F199BBFC-6A6A-4C80-4BC3-F07374C2670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685302E-474A-2B8A-952C-D299BAD0920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96820" y="262128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70AD4A9-205F-AB06-B23D-4B3A799F8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416" y="1129476"/>
            <a:ext cx="9097196" cy="364137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BAE3A51-6B81-C707-6756-DC2426C629A8}"/>
              </a:ext>
            </a:extLst>
          </p:cNvPr>
          <p:cNvSpPr txBox="1"/>
          <p:nvPr/>
        </p:nvSpPr>
        <p:spPr>
          <a:xfrm>
            <a:off x="2216228" y="5062323"/>
            <a:ext cx="9196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ym typeface="+mn-ea"/>
              </a:rPr>
              <a:t>图片源自：</a:t>
            </a:r>
            <a:endParaRPr lang="en-US" altLang="zh-CN" sz="1800" b="1" dirty="0">
              <a:sym typeface="+mn-ea"/>
              <a:hlinkClick r:id="rId5"/>
            </a:endParaRPr>
          </a:p>
          <a:p>
            <a:r>
              <a:rPr lang="en-US" altLang="zh-CN" sz="1800" b="1" dirty="0">
                <a:sym typeface="+mn-ea"/>
                <a:hlinkClick r:id="rId5"/>
              </a:rPr>
              <a:t>https://openaccess.thecvf.com/content/CVPR2021/papers/Hou_Coordinate_Attention_for_Efficient_Mobile_Network_Design_CVPR_2021_paper.pdf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56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改进 2：FcaNet-style 频域通道注意力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用 DCT 频率信息替代单一 GAP，补充通道描述能力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F63DF4-C101-A092-3BA4-89D7B12D6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33" y="1216152"/>
            <a:ext cx="7010630" cy="53679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D85589C-877F-AAFD-4ACC-20B02ED1ACE2}"/>
              </a:ext>
            </a:extLst>
          </p:cNvPr>
          <p:cNvSpPr txBox="1"/>
          <p:nvPr/>
        </p:nvSpPr>
        <p:spPr>
          <a:xfrm>
            <a:off x="8014808" y="4984426"/>
            <a:ext cx="3772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ym typeface="+mn-ea"/>
              </a:rPr>
              <a:t>图片源自：</a:t>
            </a:r>
            <a:endParaRPr lang="en-US" altLang="zh-CN" sz="1800" b="1" dirty="0">
              <a:sym typeface="+mn-ea"/>
            </a:endParaRPr>
          </a:p>
          <a:p>
            <a:r>
              <a:rPr lang="en-US" altLang="zh-CN" dirty="0">
                <a:hlinkClick r:id="rId3"/>
              </a:rPr>
              <a:t>https://openaccess.thecvf.com/content/ICCV2021/papers/Qin_FcaNet_Frequency_Channel_Attention_Networks_ICCV_2021_paper.pdf</a:t>
            </a:r>
            <a:endParaRPr lang="en-US" altLang="zh-CN" sz="1800" b="1" dirty="0">
              <a:sym typeface="+mn-ea"/>
              <a:hlinkClick r:id="rId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FB97-BF01-A278-A2B0-E5D23B5F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ED2AB-43BD-FA88-6DA5-4DBE218CF124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改进 2：FcaNet-style 频域通道注意力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E28640-54A0-0176-CD23-BD10FE8AAB8B}"/>
              </a:ext>
            </a:extLst>
          </p:cNvPr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8EBE-8E41-0A3D-2267-F014F45EF7BE}"/>
              </a:ext>
            </a:extLst>
          </p:cNvPr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用 DCT 频率信息替代单一 GAP，补充通道描述能力</a:t>
            </a:r>
          </a:p>
        </p:txBody>
      </p:sp>
      <p:pic>
        <p:nvPicPr>
          <p:cNvPr id="5" name="图片 4" descr="图示, 文本&#10;&#10;描述已自动生成">
            <a:extLst>
              <a:ext uri="{FF2B5EF4-FFF2-40B4-BE49-F238E27FC236}">
                <a16:creationId xmlns:a16="http://schemas.microsoft.com/office/drawing/2014/main" id="{396E1AE9-6C63-EE73-B62F-0AE6118C79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" t="1309" r="6584" b="8940"/>
          <a:stretch/>
        </p:blipFill>
        <p:spPr>
          <a:xfrm>
            <a:off x="502920" y="1448994"/>
            <a:ext cx="10789920" cy="51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6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2666365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FcaNet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69227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2400" dirty="0"/>
              <a:t>原始 </a:t>
            </a:r>
            <a:r>
              <a:rPr lang="en-US" altLang="zh-CN" sz="2400" dirty="0"/>
              <a:t>GAP </a:t>
            </a:r>
            <a:r>
              <a:rPr lang="zh-CN" altLang="en-US" sz="2400" dirty="0"/>
              <a:t>只保留最低频全局信息，容易丢失中高频纹理线索。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rPr lang="en-US" altLang="zh-CN" sz="2400" dirty="0" err="1"/>
              <a:t>FcaNet</a:t>
            </a:r>
            <a:r>
              <a:rPr lang="zh-CN" altLang="en-US" sz="2400" dirty="0"/>
              <a:t> 思路：将通道划分为若干组，每组使用不同 </a:t>
            </a:r>
            <a:r>
              <a:rPr lang="en-US" altLang="zh-CN" sz="2400" dirty="0"/>
              <a:t>DCT </a:t>
            </a:r>
            <a:r>
              <a:rPr lang="zh-CN" altLang="en-US" sz="2400" dirty="0"/>
              <a:t>频率分量进行空间压缩。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2400" dirty="0"/>
              <a:t>本实验 </a:t>
            </a:r>
            <a:r>
              <a:rPr lang="en-US" altLang="zh-CN" sz="2400" dirty="0"/>
              <a:t>0_5.py </a:t>
            </a:r>
            <a:r>
              <a:rPr lang="zh-CN" altLang="en-US" sz="2400" dirty="0"/>
              <a:t>实现了 </a:t>
            </a:r>
            <a:r>
              <a:rPr lang="en-US" altLang="zh-CN" sz="2400" dirty="0" err="1"/>
              <a:t>MultiSpectralDCTLayer</a:t>
            </a:r>
            <a:r>
              <a:rPr lang="zh-CN" altLang="en-US" sz="2400" dirty="0"/>
              <a:t> </a:t>
            </a:r>
            <a:r>
              <a:rPr lang="en-US" altLang="zh-CN" sz="2400" dirty="0"/>
              <a:t>+ </a:t>
            </a:r>
            <a:r>
              <a:rPr lang="zh-CN" altLang="en-US" sz="2400" dirty="0"/>
              <a:t>两层 </a:t>
            </a:r>
            <a:r>
              <a:rPr lang="en-US" altLang="zh-CN" sz="2400" dirty="0"/>
              <a:t>FC + Sigmoid </a:t>
            </a:r>
            <a:r>
              <a:rPr lang="zh-CN" altLang="en-US" sz="2400" dirty="0"/>
              <a:t>的通道权重。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2400" dirty="0"/>
              <a:t>为避免早期训练中过强抑制特征，采用残差门控：</a:t>
            </a:r>
            <a:r>
              <a:rPr lang="en-US" altLang="zh-CN" sz="2400" dirty="0"/>
              <a:t>x</a:t>
            </a:r>
            <a:r>
              <a:rPr lang="zh-CN" altLang="en-US" sz="2400" dirty="0"/>
              <a:t> </a:t>
            </a:r>
            <a:r>
              <a:rPr lang="en-US" altLang="zh-CN" sz="2400" dirty="0"/>
              <a:t>× (1 + attention)</a:t>
            </a:r>
            <a:r>
              <a:rPr lang="zh-CN" altLang="en-US" sz="2400" dirty="0"/>
              <a:t>。</a:t>
            </a:r>
          </a:p>
          <a:p>
            <a:pPr>
              <a:spcAft>
                <a:spcPts val="800"/>
              </a:spcAft>
              <a:defRPr sz="1700">
                <a:solidFill>
                  <a:srgbClr val="000000"/>
                </a:solidFill>
                <a:latin typeface="Microsoft YaHei"/>
              </a:defRPr>
            </a:pPr>
            <a:r>
              <a:rPr lang="zh-CN" altLang="zh-CN" sz="2400" dirty="0">
                <a:solidFill>
                  <a:srgbClr val="000000"/>
                </a:solidFill>
                <a:latin typeface="Microsoft YaHei"/>
              </a:rPr>
              <a:t>为适配 CPU 环境和 PyTorch 1.13 版本，对部分模块做了简化处理，导致其理论优势未充分发挥； 训练轮次仅为 10 轮，模型尚未完全收敛，部分复杂模块需要更多训练轮次才能体现效果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</a:rPr>
              <a:t>。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74265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2128343" y="3060700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2144220" y="3833946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A9D226-C8F6-8A33-34E6-81CAC217D5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35115" y="471022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2918460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Res2Net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11950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常规 </a:t>
            </a:r>
            <a:r>
              <a:rPr lang="en-US" altLang="zh-CN" sz="2400" b="1" dirty="0"/>
              <a:t>ResNet </a:t>
            </a:r>
            <a:r>
              <a:rPr lang="zh-CN" altLang="en-US" sz="2400" b="1" dirty="0"/>
              <a:t>的多尺度来自堆叠多层，</a:t>
            </a:r>
            <a:r>
              <a:rPr lang="en-US" altLang="zh-CN" sz="2400" b="1" dirty="0"/>
              <a:t>Res2Net</a:t>
            </a:r>
            <a:r>
              <a:rPr lang="zh-CN" altLang="en-US" sz="2400" b="1" dirty="0"/>
              <a:t>引入一个新的维度 </a:t>
            </a:r>
            <a:r>
              <a:rPr lang="en-US" altLang="zh-CN" sz="2400" b="1" dirty="0"/>
              <a:t>scale</a:t>
            </a:r>
            <a:r>
              <a:rPr lang="zh-CN" altLang="en-US" sz="2400" b="1" dirty="0"/>
              <a:t>，和深度、宽度、基数并列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16988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2152088" y="218270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2152088" y="345461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97455" y="214884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输入先过 1×1 </a:t>
            </a:r>
            <a:r>
              <a:rPr lang="en-US" altLang="zh-CN" sz="2400" b="1" dirty="0"/>
              <a:t>Conv​ </a:t>
            </a:r>
            <a:r>
              <a:rPr lang="zh-CN" altLang="en-US" sz="2400" b="1" dirty="0"/>
              <a:t>把通道扩出来，然后沿通道维切成 </a:t>
            </a:r>
            <a:r>
              <a:rPr lang="en-US" altLang="zh-CN" sz="2400" b="1" dirty="0"/>
              <a:t>s </a:t>
            </a:r>
            <a:r>
              <a:rPr lang="zh-CN" altLang="en-US" sz="2400" b="1" dirty="0"/>
              <a:t>组（通常 </a:t>
            </a:r>
            <a:r>
              <a:rPr lang="en-US" altLang="zh-CN" sz="2400" b="1" dirty="0"/>
              <a:t>s=4）：X --[1×1]--&gt; </a:t>
            </a:r>
            <a:r>
              <a:rPr lang="" altLang="en-US" sz="2400" b="1" dirty="0"/>
              <a:t>Ĉ →</a:t>
            </a:r>
            <a:r>
              <a:rPr lang="en-US" altLang="zh-CN" sz="2400" b="1" dirty="0"/>
              <a:t>split into [C₁, C₂, C₃, C₄]  （</a:t>
            </a:r>
            <a:r>
              <a:rPr lang="zh-CN" altLang="en-US" sz="2400" b="1" dirty="0"/>
              <a:t>每组通道数 = </a:t>
            </a:r>
            <a:r>
              <a:rPr lang="en-US" altLang="zh-CN" sz="2400" b="1" dirty="0"/>
              <a:t>w）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97455" y="3432810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然后做层级式连接：</a:t>
            </a:r>
          </a:p>
          <a:p>
            <a:r>
              <a:rPr lang="en-US" altLang="zh-CN" sz="2400" b="1" dirty="0"/>
              <a:t>y₁ = C₁                                       ← </a:t>
            </a:r>
            <a:r>
              <a:rPr lang="zh-CN" altLang="en-US" sz="2400" b="1" dirty="0"/>
              <a:t>直接保留</a:t>
            </a:r>
          </a:p>
          <a:p>
            <a:r>
              <a:rPr lang="en-US" altLang="zh-CN" sz="2400" b="1" dirty="0"/>
              <a:t>y₂ = Conv3×3(C₁ + C₂)            ← </a:t>
            </a:r>
            <a:r>
              <a:rPr lang="zh-CN" altLang="en-US" sz="2400" b="1" dirty="0"/>
              <a:t>感受野略大</a:t>
            </a:r>
          </a:p>
          <a:p>
            <a:r>
              <a:rPr lang="en-US" altLang="zh-CN" sz="2400" b="1" dirty="0"/>
              <a:t>y₃ = Conv3×3(y₂  + C₃)           ← </a:t>
            </a:r>
            <a:r>
              <a:rPr lang="zh-CN" altLang="en-US" sz="2400" b="1" dirty="0"/>
              <a:t>感受野更大</a:t>
            </a:r>
          </a:p>
          <a:p>
            <a:r>
              <a:rPr lang="en-US" altLang="zh-CN" sz="2400" b="1" dirty="0"/>
              <a:t>y₄ = Conv3×3(y₃  + C₄)           ← </a:t>
            </a:r>
            <a:r>
              <a:rPr lang="zh-CN" altLang="en-US" sz="2400" b="1" dirty="0"/>
              <a:t>感受野最大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2497455" y="552005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最后 </a:t>
            </a:r>
            <a:r>
              <a:rPr lang="en-US" altLang="zh-CN" sz="2400" b="1" dirty="0"/>
              <a:t>concat(y₁,y₂,y₃,y₄) → 1×1 Conv​ </a:t>
            </a:r>
            <a:r>
              <a:rPr lang="zh-CN" altLang="en-US" sz="2400" b="1" dirty="0"/>
              <a:t>融合回原通道数，再加 </a:t>
            </a:r>
            <a:r>
              <a:rPr lang="en-US" altLang="zh-CN" sz="2400" b="1" dirty="0"/>
              <a:t>shortcut</a:t>
            </a: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152723" y="557043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EB8344E1-038C-0647-8A0E-79231CB9C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76"/>
            <a:ext cx="12156038" cy="61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85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/>
            <p:cNvSpPr txBox="1"/>
            <p:nvPr/>
          </p:nvSpPr>
          <p:spPr>
            <a:xfrm>
              <a:off x="1037722" y="295573"/>
              <a:ext cx="3786505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Conv2former</a:t>
              </a:r>
            </a:p>
          </p:txBody>
        </p:sp>
      </p:grpSp>
      <p:graphicFrame>
        <p:nvGraphicFramePr>
          <p:cNvPr id="10" name="table 482"/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497455" y="111950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卷积调制核心公式：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152723" y="116988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2152088" y="2776432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2152088" y="4146127"/>
            <a:ext cx="5040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97455" y="274256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/>
              <a:t>x = x + self.conv(self.norm1(x))   # </a:t>
            </a:r>
            <a:r>
              <a:rPr lang="zh-CN" altLang="en-US" sz="2400" b="1" dirty="0"/>
              <a:t>深度卷积作"空间调制"</a:t>
            </a:r>
          </a:p>
          <a:p>
            <a:r>
              <a:rPr lang="en-US" altLang="zh-CN" sz="2400" b="1" dirty="0"/>
              <a:t>x = x + self.mlp(self.norm2(x))    # </a:t>
            </a:r>
            <a:r>
              <a:rPr lang="zh-CN" altLang="en-US" sz="2400" b="1" dirty="0"/>
              <a:t>通道混合（类似 </a:t>
            </a:r>
            <a:r>
              <a:rPr lang="en-US" altLang="zh-CN" sz="2400" b="1" dirty="0"/>
              <a:t>FFN / 1×1→GELU→1×1）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497455" y="4124325"/>
            <a:ext cx="9391650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/>
              <a:t>保留 </a:t>
            </a:r>
            <a:r>
              <a:rPr lang="en-US" altLang="zh-CN" sz="2400" b="1" dirty="0"/>
              <a:t>ConvNet </a:t>
            </a:r>
            <a:r>
              <a:rPr lang="zh-CN" altLang="en-US" sz="2400" b="1" dirty="0"/>
              <a:t>的归纳偏置（局部性、平移不变）和效率，同时借用 </a:t>
            </a:r>
            <a:r>
              <a:rPr lang="en-US" altLang="zh-CN" sz="2400" b="1" dirty="0"/>
              <a:t>ViT </a:t>
            </a:r>
            <a:r>
              <a:rPr lang="zh-CN" altLang="en-US" sz="2400" b="1" dirty="0"/>
              <a:t>的设计哲学（归一化前置、空间调制、</a:t>
            </a:r>
            <a:r>
              <a:rPr lang="en-US" altLang="zh-CN" sz="2400" b="1" dirty="0"/>
              <a:t>FFN）</a:t>
            </a:r>
          </a:p>
          <a:p>
            <a:endParaRPr lang="zh-CN" altLang="en-US" sz="2400" b="1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9845" y="1583690"/>
            <a:ext cx="8525510" cy="965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4713B-AFCD-C544-084B-926D2D11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E0A3186A-FF14-DFF9-8655-98CA435FA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D6B70C8-4DBF-78A4-495E-1B1233F90A06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1590664-8E3C-D903-93DC-72E3B1BB7CE2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7C77409-0BB9-42DE-4D6E-7689E1896C21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72E6E75-30E7-9A53-C198-B6509D69EE23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E56B50B-4974-D587-B0E9-31ADFEBD00BA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822299B8-6E86-A518-FF14-05F3844E450F}"/>
                </a:ext>
              </a:extLst>
            </p:cNvPr>
            <p:cNvSpPr txBox="1"/>
            <p:nvPr/>
          </p:nvSpPr>
          <p:spPr>
            <a:xfrm>
              <a:off x="1037722" y="295573"/>
              <a:ext cx="3786505" cy="499110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 algn="l"/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Conv2former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5122988D-2843-8ACB-AFDA-FF9D13D87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03081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D750A8B5-D162-F025-299D-0054B3E2E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160" y="1379870"/>
            <a:ext cx="9515541" cy="269667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7D3E2A6-5E3D-8DAE-67B6-98D3B69397E4}"/>
              </a:ext>
            </a:extLst>
          </p:cNvPr>
          <p:cNvSpPr txBox="1"/>
          <p:nvPr/>
        </p:nvSpPr>
        <p:spPr>
          <a:xfrm>
            <a:off x="2432252" y="4739466"/>
            <a:ext cx="7319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ym typeface="+mn-ea"/>
              </a:rPr>
              <a:t>图片源自：</a:t>
            </a:r>
            <a:endParaRPr lang="en-US" altLang="zh-CN" sz="1800" b="1" dirty="0">
              <a:sym typeface="+mn-ea"/>
            </a:endParaRPr>
          </a:p>
          <a:p>
            <a:r>
              <a:rPr lang="en-US" altLang="zh-CN" dirty="0">
                <a:hlinkClick r:id="rId4"/>
              </a:rPr>
              <a:t>https://arxiv.org/pdf/2211.11943</a:t>
            </a:r>
            <a:endParaRPr lang="en-US" altLang="zh-CN" sz="1800" b="1" dirty="0">
              <a:sym typeface="+mn-ea"/>
              <a:hlinkClick r:id="rId5"/>
            </a:endParaRPr>
          </a:p>
        </p:txBody>
      </p:sp>
    </p:spTree>
    <p:extLst>
      <p:ext uri="{BB962C8B-B14F-4D97-AF65-F5344CB8AC3E}">
        <p14:creationId xmlns:p14="http://schemas.microsoft.com/office/powerpoint/2010/main" val="1672144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FFD067-4B61-5B44-9B76-91C17B6C2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0" y="227066"/>
            <a:ext cx="12110799" cy="613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81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对比实验结果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Base/CA/FCA 沿用初版结果；Res2Net 与 Conv2former 使用服务器新训练结果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6492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改进方向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Best Test Acc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相对 Baseline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Base_ResNet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精简 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58.77%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ResNet_CA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坐标注意力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60.01%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+1.24%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ResNet_FCA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频域/通道注意力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57.99%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-0.78%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Res2Net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多尺度残差块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61.85%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+3.08%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ResNet_Conv2former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卷积-Transformer 风格块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66.83%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+8.06%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Microsoft YaHei"/>
                        </a:rPr>
                        <a:t>完成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977638"/>
            <a:ext cx="6492240" cy="2251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rPr sz="2000" dirty="0"/>
              <a:t>Conv2former </a:t>
            </a:r>
            <a:r>
              <a:rPr sz="2000" dirty="0" err="1"/>
              <a:t>取得最高准确率</a:t>
            </a:r>
            <a:r>
              <a:rPr sz="2000" dirty="0"/>
              <a:t> 66.83%，</a:t>
            </a:r>
            <a:r>
              <a:rPr sz="2000" dirty="0" err="1"/>
              <a:t>相比</a:t>
            </a:r>
            <a:r>
              <a:rPr sz="2000" dirty="0"/>
              <a:t> baseline </a:t>
            </a:r>
            <a:r>
              <a:rPr sz="2000" dirty="0" err="1"/>
              <a:t>提升</a:t>
            </a:r>
            <a:r>
              <a:rPr sz="2000" dirty="0"/>
              <a:t> 8.06 </a:t>
            </a:r>
            <a:r>
              <a:rPr sz="2000" dirty="0" err="1"/>
              <a:t>个百分点</a:t>
            </a:r>
            <a:r>
              <a:rPr sz="2000" dirty="0"/>
              <a:t>。</a:t>
            </a: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rPr sz="2000" dirty="0"/>
              <a:t>Res2Net </a:t>
            </a:r>
            <a:r>
              <a:rPr sz="2000" dirty="0" err="1"/>
              <a:t>训练结果达到</a:t>
            </a:r>
            <a:r>
              <a:rPr sz="2000" dirty="0"/>
              <a:t> 61.85%，</a:t>
            </a:r>
            <a:r>
              <a:rPr sz="2000" dirty="0" err="1"/>
              <a:t>说明多尺度残差结构在充分实现后有效</a:t>
            </a:r>
            <a:r>
              <a:rPr sz="2000" dirty="0"/>
              <a:t>。</a:t>
            </a: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rPr sz="2000" dirty="0"/>
              <a:t>CA </a:t>
            </a:r>
            <a:r>
              <a:rPr sz="2000" dirty="0" err="1"/>
              <a:t>稳定小幅提升；FCA</a:t>
            </a:r>
            <a:r>
              <a:rPr sz="2000" dirty="0"/>
              <a:t> </a:t>
            </a:r>
            <a:r>
              <a:rPr sz="2000" dirty="0" err="1"/>
              <a:t>当前设置略低于</a:t>
            </a:r>
            <a:r>
              <a:rPr sz="2000" dirty="0"/>
              <a:t> </a:t>
            </a:r>
            <a:r>
              <a:rPr sz="2000" dirty="0" err="1"/>
              <a:t>baseline，可能需要更长训练或调参</a:t>
            </a:r>
            <a:r>
              <a:rPr sz="2000" dirty="0"/>
              <a:t>。</a:t>
            </a:r>
          </a:p>
        </p:txBody>
      </p:sp>
      <p:pic>
        <p:nvPicPr>
          <p:cNvPr id="7" name="Picture 6" descr="final_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434840" cy="25623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D839A9-DE90-F081-D4FE-7345BB907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39" y="3625357"/>
            <a:ext cx="4701149" cy="15282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1C01A8A-5E3C-4AF1-918A-6D7A18853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039" y="5241896"/>
            <a:ext cx="4701149" cy="1528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消融实验与结果分析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注意力模块与结构模块分别比较，展示真实收益差异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6629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消融组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Best Acc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相对 Baseline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Base_ResNet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58.77%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注意力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 Coordinate Attention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60.01%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+1.24%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有效提升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注意力</a:t>
                      </a:r>
                      <a:endParaRPr sz="105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 FcaNet-style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57.99%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-0.78%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当前设置未提升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结构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Res2Net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61.85%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+3.08%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多尺度有效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Conv2former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66.83%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icrosoft YaHei"/>
                        </a:rPr>
                        <a:t>+8.06%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提升最明显</a:t>
                      </a:r>
                      <a:endParaRPr sz="105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75386"/>
            <a:ext cx="658368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350">
                <a:solidFill>
                  <a:srgbClr val="000000"/>
                </a:solidFill>
                <a:latin typeface="Microsoft YaHei"/>
              </a:defRPr>
            </a:pPr>
            <a:r>
              <a:rPr sz="1600" dirty="0"/>
              <a:t>结构改进收益更明显：Conv2former &gt; Res2Net &gt; CA &gt; baseline &gt; FCA。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350">
                <a:solidFill>
                  <a:srgbClr val="000000"/>
                </a:solidFill>
                <a:latin typeface="Microsoft YaHei"/>
              </a:defRPr>
            </a:pPr>
            <a:r>
              <a:rPr sz="1600" dirty="0"/>
              <a:t>Conv2former </a:t>
            </a:r>
            <a:r>
              <a:rPr sz="1600" dirty="0" err="1"/>
              <a:t>的空间调制</a:t>
            </a:r>
            <a:r>
              <a:rPr sz="1600" dirty="0"/>
              <a:t> + MLP </a:t>
            </a:r>
            <a:r>
              <a:rPr sz="1600" dirty="0" err="1"/>
              <a:t>通道混合增强了高层特征表达</a:t>
            </a:r>
            <a:r>
              <a:rPr sz="1600" dirty="0"/>
              <a:t>。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350">
                <a:solidFill>
                  <a:srgbClr val="000000"/>
                </a:solidFill>
                <a:latin typeface="Microsoft YaHei"/>
              </a:defRPr>
            </a:pPr>
            <a:r>
              <a:rPr sz="1600" dirty="0"/>
              <a:t>Res2Net </a:t>
            </a:r>
            <a:r>
              <a:rPr sz="1600" dirty="0" err="1"/>
              <a:t>通过层级式多尺度分支扩大有效感受野，适合细粒度类别识别</a:t>
            </a:r>
            <a:r>
              <a:rPr sz="1600" dirty="0"/>
              <a:t>。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350">
                <a:solidFill>
                  <a:srgbClr val="000000"/>
                </a:solidFill>
                <a:latin typeface="Microsoft YaHei"/>
              </a:defRPr>
            </a:pPr>
            <a:r>
              <a:rPr sz="1600" dirty="0"/>
              <a:t>FCA </a:t>
            </a:r>
            <a:r>
              <a:rPr sz="1600" dirty="0" err="1"/>
              <a:t>未提升提示：频域注意力对超参和插入位置更敏感</a:t>
            </a:r>
            <a:r>
              <a:rPr sz="1600" dirty="0"/>
              <a:t>。</a:t>
            </a:r>
          </a:p>
        </p:txBody>
      </p:sp>
      <p:pic>
        <p:nvPicPr>
          <p:cNvPr id="7" name="Picture 6" descr="final_test_accurac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105" y="2363216"/>
            <a:ext cx="4480560" cy="2588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组员分工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174652"/>
              </p:ext>
            </p:extLst>
          </p:nvPr>
        </p:nvGraphicFramePr>
        <p:xfrm>
          <a:off x="731520" y="123444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成员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主要贡献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可展示证据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南亚宏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000000"/>
                          </a:solidFill>
                          <a:latin typeface="Microsoft YaHei"/>
                        </a:rPr>
                        <a:t>PPT 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初版整理、方法页撰写</a:t>
                      </a:r>
                      <a:r>
                        <a:rPr sz="1300" kern="1200" dirty="0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3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模型训练</a:t>
                      </a:r>
                      <a:r>
                        <a:rPr lang="zh-CN" altLang="en-US" sz="1300" kern="1200" dirty="0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、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展示材料统筹</a:t>
                      </a:r>
                      <a:endParaRPr sz="130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/>
                        </a:rPr>
                        <a:t>0_0.py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Microsoft YaHei"/>
                        </a:rPr>
                        <a:t>、</a:t>
                      </a:r>
                      <a:r>
                        <a:rPr sz="1300" dirty="0">
                          <a:solidFill>
                            <a:srgbClr val="000000"/>
                          </a:solidFill>
                          <a:latin typeface="Microsoft YaHei"/>
                        </a:rPr>
                        <a:t>PPT 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页面与展示稿</a:t>
                      </a:r>
                      <a:endParaRPr sz="130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杨李泽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代码迭代、Gitee</a:t>
                      </a:r>
                      <a:r>
                        <a:rPr sz="1300" dirty="0">
                          <a:solidFill>
                            <a:srgbClr val="000000"/>
                          </a:solidFill>
                          <a:latin typeface="Microsoft YaHei"/>
                        </a:rPr>
                        <a:t> 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提交</a:t>
                      </a:r>
                      <a:r>
                        <a:rPr sz="1300" kern="1200" dirty="0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、</a:t>
                      </a:r>
                      <a:r>
                        <a:rPr lang="zh-CN" altLang="en-US" sz="13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模型</a:t>
                      </a:r>
                      <a:r>
                        <a:rPr sz="1300" kern="1200" dirty="0" err="1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训练</a:t>
                      </a:r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、实验结果整理</a:t>
                      </a:r>
                      <a:endParaRPr sz="130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0_1~0_5.py、日志、结果表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Microsoft YaHei"/>
                        </a:rPr>
                        <a:t>蔡梓涵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文档补充、图表整理、</a:t>
                      </a:r>
                      <a:r>
                        <a:rPr sz="1300" kern="1200" dirty="0" err="1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结果复核</a:t>
                      </a:r>
                      <a:r>
                        <a:rPr lang="zh-CN" altLang="en-US" sz="130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可视化</a:t>
                      </a:r>
                      <a:r>
                        <a:rPr sz="1300" kern="1200" dirty="0" err="1">
                          <a:solidFill>
                            <a:srgbClr val="000000"/>
                          </a:solidFill>
                          <a:latin typeface="Microsoft YaHei"/>
                          <a:ea typeface="+mn-ea"/>
                          <a:cs typeface="+mn-cs"/>
                        </a:rPr>
                        <a:t>与报告排版</a:t>
                      </a:r>
                      <a:endParaRPr sz="1300" kern="1200" dirty="0">
                        <a:solidFill>
                          <a:srgbClr val="000000"/>
                        </a:solidFill>
                        <a:latin typeface="Microsoft YaHe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000000"/>
                          </a:solidFill>
                          <a:latin typeface="Microsoft YaHei"/>
                        </a:rPr>
                        <a:t>报告段落、图表、引用</a:t>
                      </a:r>
                      <a:endParaRPr sz="1300" dirty="0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C46A8593-0569-3F8B-75AB-7F2D3A04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32" y="3883187"/>
            <a:ext cx="4880773" cy="24022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8535CCE-30E9-9F84-F55D-927A8FD34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453" y="3590094"/>
            <a:ext cx="4797215" cy="2919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Microsoft YaHei"/>
              </a:rPr>
              <a:t>总结与未来工作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Microsoft YaHei"/>
              </a:rPr>
              <a:t>当前最佳模型为 ResNet_Conv2former，后续重点是验证稳定性与轻量化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5379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rPr dirty="0"/>
              <a:t>当前结论：Conv2former </a:t>
            </a:r>
            <a:r>
              <a:rPr dirty="0" err="1"/>
              <a:t>达到</a:t>
            </a:r>
            <a:r>
              <a:rPr dirty="0"/>
              <a:t> 66.83%，为本轮实验最佳；Res2Net </a:t>
            </a:r>
            <a:r>
              <a:rPr dirty="0" err="1"/>
              <a:t>达到</a:t>
            </a:r>
            <a:r>
              <a:rPr dirty="0"/>
              <a:t> 61.85%，</a:t>
            </a:r>
            <a:r>
              <a:rPr dirty="0" err="1"/>
              <a:t>也超过</a:t>
            </a:r>
            <a:r>
              <a:rPr dirty="0"/>
              <a:t> baseline。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有效模块：空间调制与多尺度结构在</a:t>
            </a:r>
            <a:r>
              <a:rPr dirty="0"/>
              <a:t> CIFAR-100 </a:t>
            </a:r>
            <a:r>
              <a:rPr dirty="0" err="1"/>
              <a:t>上收益明显；CA</a:t>
            </a:r>
            <a:r>
              <a:rPr dirty="0"/>
              <a:t> </a:t>
            </a:r>
            <a:r>
              <a:rPr dirty="0" err="1"/>
              <a:t>提供稳定小幅增益</a:t>
            </a:r>
            <a:r>
              <a:rPr dirty="0"/>
              <a:t>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待改进模块：FCA</a:t>
            </a:r>
            <a:r>
              <a:rPr dirty="0"/>
              <a:t> </a:t>
            </a:r>
            <a:r>
              <a:rPr dirty="0" err="1"/>
              <a:t>当前结果略低，后续可尝试更多频率选择、插入到中间层或延长训练</a:t>
            </a:r>
            <a:r>
              <a:rPr dirty="0"/>
              <a:t>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未来工作：延长</a:t>
            </a:r>
            <a:r>
              <a:rPr dirty="0"/>
              <a:t> </a:t>
            </a:r>
            <a:r>
              <a:rPr dirty="0" err="1"/>
              <a:t>epoch、统一随机种子重复实验、补充参数量</a:t>
            </a:r>
            <a:r>
              <a:rPr dirty="0"/>
              <a:t>/</a:t>
            </a:r>
            <a:r>
              <a:rPr dirty="0" err="1"/>
              <a:t>训练时间</a:t>
            </a:r>
            <a:r>
              <a:rPr dirty="0"/>
              <a:t>/CPU </a:t>
            </a:r>
            <a:r>
              <a:rPr dirty="0" err="1"/>
              <a:t>推理耗时</a:t>
            </a:r>
            <a:r>
              <a:rPr dirty="0"/>
              <a:t>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000000"/>
                </a:solidFill>
                <a:latin typeface="Microsoft YaHei"/>
              </a:defRPr>
            </a:pPr>
            <a:r>
              <a:rPr dirty="0" err="1"/>
              <a:t>组合实验：尝试</a:t>
            </a:r>
            <a:r>
              <a:rPr dirty="0"/>
              <a:t> CA + Conv2former </a:t>
            </a:r>
            <a:r>
              <a:rPr dirty="0" err="1"/>
              <a:t>或</a:t>
            </a:r>
            <a:r>
              <a:rPr dirty="0"/>
              <a:t> Res2Net + Conv2former，验证模块互补性。</a:t>
            </a:r>
          </a:p>
        </p:txBody>
      </p:sp>
      <p:pic>
        <p:nvPicPr>
          <p:cNvPr id="6" name="Picture 5" descr="final_generaliza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208" y="2236391"/>
            <a:ext cx="4293392" cy="2385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6900712" y="-761537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03166" y="2509934"/>
            <a:ext cx="4777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感谢聆听！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2A2B1A77AFE605A8890D777355317DCF12ED3206BD6755D72C825A0CE0200C5" val="[{&quot;GradientColorId&quot;:&quot;&quot;,&quot;IsFree&quot;:true,&quot;IsGradient&quot;:false,&quot;ImagePath&quot;:&quot;&quot;,&quot;GradientColor&quot;:null,&quot;SimpleColor&quot;:&quot;#000000&quot;},{&quot;GradientColorId&quot;:&quot;&quot;,&quot;IsFree&quot;:true,&quot;IsGradient&quot;:false,&quot;ImagePath&quot;:&quot;&quot;,&quot;GradientColor&quot;:null,&quot;SimpleColor&quot;:&quot;#7030A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2979527559055,&quot;left&quot;:161.55574803149608,&quot;top&quot;:95.75,&quot;width&quot;:774.594251968503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1185</Words>
  <Application>Microsoft Office PowerPoint</Application>
  <PresentationFormat>宽屏</PresentationFormat>
  <Paragraphs>232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等线 Light</vt:lpstr>
      <vt:lpstr>华文新魏</vt:lpstr>
      <vt:lpstr>华文行楷</vt:lpstr>
      <vt:lpstr>宋体</vt:lpstr>
      <vt:lpstr>微软雅黑</vt:lpstr>
      <vt:lpstr>微软雅黑</vt:lpstr>
      <vt:lpstr>Arial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轩麟 刘</dc:creator>
  <cp:lastModifiedBy>小明 王</cp:lastModifiedBy>
  <cp:revision>22</cp:revision>
  <dcterms:created xsi:type="dcterms:W3CDTF">2025-12-03T07:50:00Z</dcterms:created>
  <dcterms:modified xsi:type="dcterms:W3CDTF">2026-06-09T05:38:08Z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AA3B1F61B57444428D005FAADE8CE84C_12</vt:lpwstr>
  </property>
</Properties>
</file>